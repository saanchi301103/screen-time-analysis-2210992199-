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gMVsrAk+qbkLis5Y8qDOM9AFWV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6813604e6_1_1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6813604e6_1_1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e6813604e6_1_12: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6813604e6_1_2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6813604e6_1_2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e6813604e6_1_22: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6813604e6_1_2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6813604e6_1_2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e6813604e6_1_29: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ae72e459a_0_1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ae72e459a_0_1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dae72e459a_0_18: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6813604e6_1_3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6813604e6_1_3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e6813604e6_1_37: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6813604e6_1_4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6813604e6_1_45: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e6813604e6_1_45: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6813604e6_1_5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6813604e6_1_5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e6813604e6_1_5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6813604e6_1_6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6813604e6_1_61: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e6813604e6_1_61: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ae72e459a_0_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ae72e459a_0_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dae72e459a_0_9: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6813604e6_1_7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6813604e6_1_7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e6813604e6_1_70: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96ca84952_0_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96ca84952_0_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e96ca84952_0_7: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6813604e6_1_7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6813604e6_1_7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e6813604e6_1_78: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6813604e6_1_8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6813604e6_1_85: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e6813604e6_1_85: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6813604e6_1_9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e6813604e6_1_9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e6813604e6_1_9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8.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840631"/>
            <a:ext cx="9144000" cy="537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CO-OP Project at Industry (Module-2) (22CS421)</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100">
                <a:solidFill>
                  <a:schemeClr val="dk1"/>
                </a:solidFill>
                <a:latin typeface="Times New Roman"/>
                <a:ea typeface="Times New Roman"/>
                <a:cs typeface="Times New Roman"/>
                <a:sym typeface="Times New Roman"/>
              </a:rPr>
              <a:t>Effect of Screen Time on Productivity and Mental Health Among University Students: A Data-Driven and Machine Learning Approach</a:t>
            </a:r>
            <a:r>
              <a:rPr lang="en-US" sz="3000">
                <a:solidFill>
                  <a:schemeClr val="dk1"/>
                </a:solidFill>
                <a:latin typeface="Times New Roman"/>
                <a:ea typeface="Times New Roman"/>
                <a:cs typeface="Times New Roman"/>
                <a:sym typeface="Times New Roman"/>
              </a:rPr>
              <a:t> </a:t>
            </a:r>
            <a:endParaRPr b="0" i="1" sz="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Saanchi Madaan</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2210992199</a:t>
            </a:r>
            <a:endParaRPr/>
          </a:p>
          <a:p>
            <a:pPr indent="0" lvl="0" marL="0" marR="0" rtl="0" algn="ctr">
              <a:lnSpc>
                <a:spcPct val="100000"/>
              </a:lnSpc>
              <a:spcBef>
                <a:spcPts val="40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Dr. Simarjit Kaur</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solidFill>
                  <a:schemeClr val="dk1"/>
                </a:solidFill>
                <a:latin typeface="Times New Roman"/>
                <a:ea typeface="Times New Roman"/>
                <a:cs typeface="Times New Roman"/>
                <a:sym typeface="Times New Roman"/>
              </a:rPr>
              <a:t>Associate Professor, Department of Computer Science and Engineering</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255350" y="0"/>
            <a:ext cx="62214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Introduction</a:t>
            </a:r>
            <a:endParaRPr b="0" i="0" sz="30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Technology has become an essential part of students’ academic and personal lives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Significant increase in daily screen usage among university students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Devices like smartphones, laptops, and tablets are widely used for:</a:t>
            </a:r>
            <a:endParaRPr sz="2000">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US" sz="2000">
                <a:latin typeface="Times New Roman"/>
                <a:ea typeface="Times New Roman"/>
                <a:cs typeface="Times New Roman"/>
                <a:sym typeface="Times New Roman"/>
              </a:rPr>
              <a:t>Learning</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Communication</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Entertainment</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While technology offers many benefits, excessive screen time is a growing concern</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Negative effects of prolonged screen usage:</a:t>
            </a:r>
            <a:endParaRPr sz="2000">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US" sz="2000">
                <a:latin typeface="Times New Roman"/>
                <a:ea typeface="Times New Roman"/>
                <a:cs typeface="Times New Roman"/>
                <a:sym typeface="Times New Roman"/>
              </a:rPr>
              <a:t>Reduced concentration</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Increased stress levels</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Need for a data-driven and machine learning approach to analyze its impact</a:t>
            </a:r>
            <a:endParaRPr sz="2000">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e6813604e6_1_12"/>
          <p:cNvSpPr txBox="1"/>
          <p:nvPr>
            <p:ph type="title"/>
          </p:nvPr>
        </p:nvSpPr>
        <p:spPr>
          <a:xfrm>
            <a:off x="347775" y="0"/>
            <a:ext cx="51384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Problem Statement</a:t>
            </a:r>
            <a:r>
              <a:rPr lang="en-US"/>
              <a:t> </a:t>
            </a:r>
            <a:endParaRPr/>
          </a:p>
        </p:txBody>
      </p:sp>
      <p:sp>
        <p:nvSpPr>
          <p:cNvPr id="98" name="Google Shape;98;g3e6813604e6_1_12"/>
          <p:cNvSpPr txBox="1"/>
          <p:nvPr>
            <p:ph idx="1" type="body"/>
          </p:nvPr>
        </p:nvSpPr>
        <p:spPr>
          <a:xfrm>
            <a:off x="347775" y="1130295"/>
            <a:ext cx="8229300" cy="3977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2000">
                <a:latin typeface="Times New Roman"/>
                <a:ea typeface="Times New Roman"/>
                <a:cs typeface="Times New Roman"/>
                <a:sym typeface="Times New Roman"/>
              </a:rPr>
              <a:t>With the increasing use of digital devices, university students are spending more time on screens for both academic and personal activities. While technology is beneficial, excessive screen time has raised concerns regarding its impact on productivity and mental well-being. However, there is limited data-driven analysis to clearly understand these effects.</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latin typeface="Times New Roman"/>
                <a:ea typeface="Times New Roman"/>
                <a:cs typeface="Times New Roman"/>
                <a:sym typeface="Times New Roman"/>
              </a:rPr>
              <a:t>Key Issues:</a:t>
            </a:r>
            <a:endParaRPr b="1"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Increased screen time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Reduced productivity and focus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Higher stress levels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0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Core Problem:</a:t>
            </a:r>
            <a:br>
              <a:rPr b="1"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To analyze the impact of screen time on productivity, stress, and sleep quality using a data-driven approach.</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e6813604e6_1_22"/>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Objectives</a:t>
            </a:r>
            <a:endParaRPr sz="3200">
              <a:latin typeface="Times New Roman"/>
              <a:ea typeface="Times New Roman"/>
              <a:cs typeface="Times New Roman"/>
              <a:sym typeface="Times New Roman"/>
            </a:endParaRPr>
          </a:p>
        </p:txBody>
      </p:sp>
      <p:sp>
        <p:nvSpPr>
          <p:cNvPr id="105" name="Google Shape;105;g3e6813604e6_1_22"/>
          <p:cNvSpPr txBox="1"/>
          <p:nvPr>
            <p:ph idx="1" type="body"/>
          </p:nvPr>
        </p:nvSpPr>
        <p:spPr>
          <a:xfrm>
            <a:off x="457200" y="1172301"/>
            <a:ext cx="8229300" cy="4409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main objectives of this study are:</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To analyze the relationship between screen time and productivity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examine the impact of screen time on stress levels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study the effect of screen time on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apply machine learning techniques for prediction and analysis</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e6813604e6_1_29"/>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Literature Review</a:t>
            </a:r>
            <a:r>
              <a:rPr lang="en-US"/>
              <a:t> </a:t>
            </a:r>
            <a:endParaRPr/>
          </a:p>
        </p:txBody>
      </p:sp>
      <p:sp>
        <p:nvSpPr>
          <p:cNvPr id="112" name="Google Shape;112;g3e6813604e6_1_29"/>
          <p:cNvSpPr txBox="1"/>
          <p:nvPr>
            <p:ph idx="1" type="body"/>
          </p:nvPr>
        </p:nvSpPr>
        <p:spPr>
          <a:xfrm>
            <a:off x="457200" y="1135676"/>
            <a:ext cx="8229300" cy="4446300"/>
          </a:xfrm>
          <a:prstGeom prst="rect">
            <a:avLst/>
          </a:prstGeom>
        </p:spPr>
        <p:txBody>
          <a:bodyPr anchorCtr="0" anchor="t" bIns="0" lIns="0" spcFirstLastPara="1" rIns="0" wrap="square" tIns="0">
            <a:noAutofit/>
          </a:bodyPr>
          <a:lstStyle/>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Several studies highlight the significant impact of screen time on students’ mental health and academic performance</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Increased screen usage is consistently associated with higher stress levels, reduced concentration, and decreased academic efficiency</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Excessive screen exposure, especially for non-academic purposes, leads to:</a:t>
            </a:r>
            <a:endParaRPr sz="2000">
              <a:latin typeface="Times New Roman"/>
              <a:ea typeface="Times New Roman"/>
              <a:cs typeface="Times New Roman"/>
              <a:sym typeface="Times New Roman"/>
            </a:endParaRPr>
          </a:p>
          <a:p>
            <a:pPr indent="-298450" lvl="0" marL="457200" rtl="0" algn="l">
              <a:lnSpc>
                <a:spcPct val="115000"/>
              </a:lnSpc>
              <a:spcBef>
                <a:spcPts val="1200"/>
              </a:spcBef>
              <a:spcAft>
                <a:spcPts val="0"/>
              </a:spcAft>
              <a:buSzPts val="1100"/>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US" sz="2000">
                <a:latin typeface="Times New Roman"/>
                <a:ea typeface="Times New Roman"/>
                <a:cs typeface="Times New Roman"/>
                <a:sym typeface="Times New Roman"/>
              </a:rPr>
              <a:t>Increased mental fatigue</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US" sz="2000">
                <a:latin typeface="Times New Roman"/>
                <a:ea typeface="Times New Roman"/>
                <a:cs typeface="Times New Roman"/>
                <a:sym typeface="Times New Roman"/>
              </a:rPr>
              <a:t>Lower productivity levels</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Many studies also indicate that media multitasking and prolonged device usage negatively affect attention span and cognitive control</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While moderate screen usage can support learning and communication, excessive use results in adverse psychological and behavioral effects</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However, most existing research relies on traditional statistical methods, with limited use of machine learning techniques for predictive and data-driven analysis</a:t>
            </a:r>
            <a:endParaRPr sz="2000">
              <a:latin typeface="Times New Roman"/>
              <a:ea typeface="Times New Roman"/>
              <a:cs typeface="Times New Roman"/>
              <a:sym typeface="Times New Roman"/>
            </a:endParaRPr>
          </a:p>
          <a:p>
            <a:pPr indent="0" lvl="0" marL="0" rtl="0" algn="l">
              <a:spcBef>
                <a:spcPts val="10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g3dae72e459a_0_18" title="ChatGPT Image Apr 30, 2026, 03_16_38 PM.png"/>
          <p:cNvPicPr preferRelativeResize="0"/>
          <p:nvPr/>
        </p:nvPicPr>
        <p:blipFill>
          <a:blip r:embed="rId3">
            <a:alphaModFix/>
          </a:blip>
          <a:stretch>
            <a:fillRect/>
          </a:stretch>
        </p:blipFill>
        <p:spPr>
          <a:xfrm>
            <a:off x="250075" y="1702750"/>
            <a:ext cx="5544150" cy="3696100"/>
          </a:xfrm>
          <a:prstGeom prst="rect">
            <a:avLst/>
          </a:prstGeom>
          <a:noFill/>
          <a:ln>
            <a:noFill/>
          </a:ln>
        </p:spPr>
      </p:pic>
      <p:pic>
        <p:nvPicPr>
          <p:cNvPr id="119" name="Google Shape;119;g3dae72e459a_0_18" title="ChatGPT Image Apr 30, 2026, 03_16_44 PM.png"/>
          <p:cNvPicPr preferRelativeResize="0"/>
          <p:nvPr/>
        </p:nvPicPr>
        <p:blipFill>
          <a:blip r:embed="rId4">
            <a:alphaModFix/>
          </a:blip>
          <a:stretch>
            <a:fillRect/>
          </a:stretch>
        </p:blipFill>
        <p:spPr>
          <a:xfrm>
            <a:off x="5903675" y="2535800"/>
            <a:ext cx="3044974" cy="20299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e6813604e6_1_37"/>
          <p:cNvSpPr txBox="1"/>
          <p:nvPr>
            <p:ph type="title"/>
          </p:nvPr>
        </p:nvSpPr>
        <p:spPr>
          <a:xfrm>
            <a:off x="531200" y="0"/>
            <a:ext cx="49548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Methodology </a:t>
            </a:r>
            <a:endParaRPr sz="3200">
              <a:latin typeface="Times New Roman"/>
              <a:ea typeface="Times New Roman"/>
              <a:cs typeface="Times New Roman"/>
              <a:sym typeface="Times New Roman"/>
            </a:endParaRPr>
          </a:p>
        </p:txBody>
      </p:sp>
      <p:sp>
        <p:nvSpPr>
          <p:cNvPr id="126" name="Google Shape;126;g3e6813604e6_1_37"/>
          <p:cNvSpPr txBox="1"/>
          <p:nvPr>
            <p:ph idx="1" type="body"/>
          </p:nvPr>
        </p:nvSpPr>
        <p:spPr>
          <a:xfrm>
            <a:off x="457200" y="1245575"/>
            <a:ext cx="8229300" cy="43365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This study follows a data-driven approach to analyze the impact of screen time on students’ productivity and mental health.</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Dataset of </a:t>
            </a:r>
            <a:r>
              <a:rPr b="1" lang="en-US" sz="2000">
                <a:latin typeface="Times New Roman"/>
                <a:ea typeface="Times New Roman"/>
                <a:cs typeface="Times New Roman"/>
                <a:sym typeface="Times New Roman"/>
              </a:rPr>
              <a:t>150 students</a:t>
            </a:r>
            <a:r>
              <a:rPr lang="en-US" sz="2000">
                <a:latin typeface="Times New Roman"/>
                <a:ea typeface="Times New Roman"/>
                <a:cs typeface="Times New Roman"/>
                <a:sym typeface="Times New Roman"/>
              </a:rPr>
              <a:t> collected with key variables: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Stress Levels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Data preprocessing and analysis performed using:</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Python (Pandas, Matplotlib, Seaborn)</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Exploratory Data Analysis (EDA) used to identify patterns and relationships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Machine Learning model applied:</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Char char="○"/>
            </a:pPr>
            <a:r>
              <a:rPr b="1" lang="en-US" sz="2000">
                <a:latin typeface="Times New Roman"/>
                <a:ea typeface="Times New Roman"/>
                <a:cs typeface="Times New Roman"/>
                <a:sym typeface="Times New Roman"/>
              </a:rPr>
              <a:t>Linear Regression</a:t>
            </a:r>
            <a:r>
              <a:rPr lang="en-US" sz="2000">
                <a:latin typeface="Times New Roman"/>
                <a:ea typeface="Times New Roman"/>
                <a:cs typeface="Times New Roman"/>
                <a:sym typeface="Times New Roman"/>
              </a:rPr>
              <a:t> to predict productivity based on screen time</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e6813604e6_1_45"/>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Machine Learning Model </a:t>
            </a:r>
            <a:endParaRPr sz="3200">
              <a:latin typeface="Times New Roman"/>
              <a:ea typeface="Times New Roman"/>
              <a:cs typeface="Times New Roman"/>
              <a:sym typeface="Times New Roman"/>
            </a:endParaRPr>
          </a:p>
        </p:txBody>
      </p:sp>
      <p:sp>
        <p:nvSpPr>
          <p:cNvPr id="133" name="Google Shape;133;g3e6813604e6_1_45"/>
          <p:cNvSpPr txBox="1"/>
          <p:nvPr>
            <p:ph idx="1" type="body"/>
          </p:nvPr>
        </p:nvSpPr>
        <p:spPr>
          <a:xfrm>
            <a:off x="457200" y="1154001"/>
            <a:ext cx="8229300" cy="44280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A Linear Regression model was used to analyze the relationship between screen time and productivity.</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Model Used: </a:t>
            </a:r>
            <a:r>
              <a:rPr b="1" lang="en-US" sz="2000">
                <a:latin typeface="Times New Roman"/>
                <a:ea typeface="Times New Roman"/>
                <a:cs typeface="Times New Roman"/>
                <a:sym typeface="Times New Roman"/>
              </a:rPr>
              <a:t>Linear Regression</a:t>
            </a:r>
            <a:endParaRPr b="1"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Objective: Predict productivity based on screen time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Dataset Split:</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80% Training Data</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20% Testing Data</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Model Evaluation Metrics: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Mean Squared Error (MSE)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R² Score</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model shows a negative relationship, indicating that increased screen time leads to lower productivity.</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6813604e6_1_53"/>
          <p:cNvSpPr txBox="1"/>
          <p:nvPr>
            <p:ph type="title"/>
          </p:nvPr>
        </p:nvSpPr>
        <p:spPr>
          <a:xfrm>
            <a:off x="457200" y="0"/>
            <a:ext cx="57342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Exploratory Data Analysis (EDA) </a:t>
            </a:r>
            <a:endParaRPr sz="3200">
              <a:latin typeface="Times New Roman"/>
              <a:ea typeface="Times New Roman"/>
              <a:cs typeface="Times New Roman"/>
              <a:sym typeface="Times New Roman"/>
            </a:endParaRPr>
          </a:p>
        </p:txBody>
      </p:sp>
      <p:sp>
        <p:nvSpPr>
          <p:cNvPr id="140" name="Google Shape;140;g3e6813604e6_1_53"/>
          <p:cNvSpPr txBox="1"/>
          <p:nvPr>
            <p:ph idx="1" type="body"/>
          </p:nvPr>
        </p:nvSpPr>
        <p:spPr>
          <a:xfrm>
            <a:off x="457200" y="1154001"/>
            <a:ext cx="8229300" cy="44280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Exploratory Data Analysis was performed to identify patterns and relationships between variables.</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Scatter Plot: Shows relationship between screen time and productivity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Bar Chart: Displays average productivity across different screen time groups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Pie Chart: Represents distribution of students based on screen usage</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Key Insight:</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Productivity decreases as screen time increases, showing a clear negative trend.</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pic>
        <p:nvPicPr>
          <p:cNvPr id="141" name="Google Shape;141;g3e6813604e6_1_53" title="scatterplot.png"/>
          <p:cNvPicPr preferRelativeResize="0"/>
          <p:nvPr/>
        </p:nvPicPr>
        <p:blipFill>
          <a:blip r:embed="rId3">
            <a:alphaModFix/>
          </a:blip>
          <a:stretch>
            <a:fillRect/>
          </a:stretch>
        </p:blipFill>
        <p:spPr>
          <a:xfrm>
            <a:off x="457195" y="4400975"/>
            <a:ext cx="2783125" cy="2126575"/>
          </a:xfrm>
          <a:prstGeom prst="rect">
            <a:avLst/>
          </a:prstGeom>
          <a:noFill/>
          <a:ln>
            <a:noFill/>
          </a:ln>
        </p:spPr>
      </p:pic>
      <p:pic>
        <p:nvPicPr>
          <p:cNvPr id="142" name="Google Shape;142;g3e6813604e6_1_53" title="bargraph.png"/>
          <p:cNvPicPr preferRelativeResize="0"/>
          <p:nvPr/>
        </p:nvPicPr>
        <p:blipFill>
          <a:blip r:embed="rId4">
            <a:alphaModFix/>
          </a:blip>
          <a:stretch>
            <a:fillRect/>
          </a:stretch>
        </p:blipFill>
        <p:spPr>
          <a:xfrm>
            <a:off x="3408275" y="4400985"/>
            <a:ext cx="2783125" cy="2274890"/>
          </a:xfrm>
          <a:prstGeom prst="rect">
            <a:avLst/>
          </a:prstGeom>
          <a:noFill/>
          <a:ln>
            <a:noFill/>
          </a:ln>
        </p:spPr>
      </p:pic>
      <p:pic>
        <p:nvPicPr>
          <p:cNvPr id="143" name="Google Shape;143;g3e6813604e6_1_53" title="piechart.png"/>
          <p:cNvPicPr preferRelativeResize="0"/>
          <p:nvPr/>
        </p:nvPicPr>
        <p:blipFill>
          <a:blip r:embed="rId5">
            <a:alphaModFix/>
          </a:blip>
          <a:stretch>
            <a:fillRect/>
          </a:stretch>
        </p:blipFill>
        <p:spPr>
          <a:xfrm>
            <a:off x="6359350" y="4400975"/>
            <a:ext cx="2597059" cy="2126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e6813604e6_1_61"/>
          <p:cNvSpPr txBox="1"/>
          <p:nvPr>
            <p:ph type="title"/>
          </p:nvPr>
        </p:nvSpPr>
        <p:spPr>
          <a:xfrm>
            <a:off x="457200" y="439625"/>
            <a:ext cx="5028900" cy="474300"/>
          </a:xfrm>
          <a:prstGeom prst="rect">
            <a:avLst/>
          </a:prstGeom>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rPr lang="en-US" sz="3200">
                <a:latin typeface="Times New Roman"/>
                <a:ea typeface="Times New Roman"/>
                <a:cs typeface="Times New Roman"/>
                <a:sym typeface="Times New Roman"/>
              </a:rPr>
              <a:t>Correlation Analysis</a:t>
            </a:r>
            <a:endParaRPr sz="3200">
              <a:latin typeface="Times New Roman"/>
              <a:ea typeface="Times New Roman"/>
              <a:cs typeface="Times New Roman"/>
              <a:sym typeface="Times New Roman"/>
            </a:endParaRPr>
          </a:p>
          <a:p>
            <a:pPr indent="0" lvl="0" marL="0" rtl="0" algn="l">
              <a:spcBef>
                <a:spcPts val="600"/>
              </a:spcBef>
              <a:spcAft>
                <a:spcPts val="0"/>
              </a:spcAft>
              <a:buNone/>
            </a:pPr>
            <a:r>
              <a:t/>
            </a:r>
            <a:endParaRPr sz="3200">
              <a:latin typeface="Times New Roman"/>
              <a:ea typeface="Times New Roman"/>
              <a:cs typeface="Times New Roman"/>
              <a:sym typeface="Times New Roman"/>
            </a:endParaRPr>
          </a:p>
        </p:txBody>
      </p:sp>
      <p:sp>
        <p:nvSpPr>
          <p:cNvPr id="150" name="Google Shape;150;g3e6813604e6_1_61"/>
          <p:cNvSpPr txBox="1"/>
          <p:nvPr>
            <p:ph idx="1" type="body"/>
          </p:nvPr>
        </p:nvSpPr>
        <p:spPr>
          <a:xfrm>
            <a:off x="457200" y="1154001"/>
            <a:ext cx="8229300" cy="44280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Correlation analysis was performed to understand the relationship between screen time and other variables such as productivity, stress levels, and sleep quality. It helps in identifying how strongly these variables are connected and whether the relationship is positive or negative.</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b="1" lang="en-US" sz="2000">
                <a:latin typeface="Times New Roman"/>
                <a:ea typeface="Times New Roman"/>
                <a:cs typeface="Times New Roman"/>
                <a:sym typeface="Times New Roman"/>
              </a:rPr>
              <a:t>Negative correlation between:</a:t>
            </a:r>
            <a:endParaRPr b="1"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 and 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 and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b="1" lang="en-US" sz="2000">
                <a:latin typeface="Times New Roman"/>
                <a:ea typeface="Times New Roman"/>
                <a:cs typeface="Times New Roman"/>
                <a:sym typeface="Times New Roman"/>
              </a:rPr>
              <a:t>Positive correlation between:</a:t>
            </a:r>
            <a:endParaRPr b="1"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 and Stress Levels</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2000">
                <a:latin typeface="Times New Roman"/>
                <a:ea typeface="Times New Roman"/>
                <a:cs typeface="Times New Roman"/>
                <a:sym typeface="Times New Roman"/>
              </a:rPr>
              <a:t>Key Insight:</a:t>
            </a:r>
            <a:br>
              <a:rPr b="1"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Higher screen time leads to lower productivity and reduced sleep quality, while increasing stress levels. This indicates that excessive screen usage has a negative impact on both academic performance and mental well-being.</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g3dae72e459a_0_9" title="correlationmatrix.png"/>
          <p:cNvPicPr preferRelativeResize="0"/>
          <p:nvPr/>
        </p:nvPicPr>
        <p:blipFill>
          <a:blip r:embed="rId3">
            <a:alphaModFix/>
          </a:blip>
          <a:stretch>
            <a:fillRect/>
          </a:stretch>
        </p:blipFill>
        <p:spPr>
          <a:xfrm>
            <a:off x="1814813" y="1519775"/>
            <a:ext cx="5514375" cy="4329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e6813604e6_1_70"/>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Results &amp; Discussion </a:t>
            </a:r>
            <a:endParaRPr sz="3200">
              <a:latin typeface="Times New Roman"/>
              <a:ea typeface="Times New Roman"/>
              <a:cs typeface="Times New Roman"/>
              <a:sym typeface="Times New Roman"/>
            </a:endParaRPr>
          </a:p>
        </p:txBody>
      </p:sp>
      <p:sp>
        <p:nvSpPr>
          <p:cNvPr id="163" name="Google Shape;163;g3e6813604e6_1_70"/>
          <p:cNvSpPr txBox="1"/>
          <p:nvPr>
            <p:ph idx="1" type="body"/>
          </p:nvPr>
        </p:nvSpPr>
        <p:spPr>
          <a:xfrm>
            <a:off x="457200" y="1172301"/>
            <a:ext cx="8229300" cy="44097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analysis highlights the significant impact of screen time on students’ productivity and mental health.</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Moderate screen usage can support learning and productivity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Excessive screen time leads to:</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Decreased 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Increased stress levels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Key factors affecting performance: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Distraction</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Cognitive fatigue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Reduced concentration</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machine learning model confirms a negative relationship between screen time and productivity.</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g3e96ca84952_0_7" title="regressiongraph.png"/>
          <p:cNvPicPr preferRelativeResize="0"/>
          <p:nvPr/>
        </p:nvPicPr>
        <p:blipFill>
          <a:blip r:embed="rId3">
            <a:alphaModFix/>
          </a:blip>
          <a:stretch>
            <a:fillRect/>
          </a:stretch>
        </p:blipFill>
        <p:spPr>
          <a:xfrm>
            <a:off x="1167350" y="1050600"/>
            <a:ext cx="7022126" cy="5255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e6813604e6_1_78"/>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Conclusion</a:t>
            </a:r>
            <a:endParaRPr sz="3200">
              <a:latin typeface="Times New Roman"/>
              <a:ea typeface="Times New Roman"/>
              <a:cs typeface="Times New Roman"/>
              <a:sym typeface="Times New Roman"/>
            </a:endParaRPr>
          </a:p>
        </p:txBody>
      </p:sp>
      <p:sp>
        <p:nvSpPr>
          <p:cNvPr id="176" name="Google Shape;176;g3e6813604e6_1_78"/>
          <p:cNvSpPr txBox="1"/>
          <p:nvPr>
            <p:ph idx="1" type="body"/>
          </p:nvPr>
        </p:nvSpPr>
        <p:spPr>
          <a:xfrm>
            <a:off x="457200" y="1135676"/>
            <a:ext cx="8229300" cy="44463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This study highlights that screen time plays a significant role in influencing students’ productivity and mental well-being.</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Excessive screen usage leads to:</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Reduced 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Increased stress levels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Controlled and mindful usage of digital devices can improve overall performance and well-being</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A data-driven and machine learning approach helps in better understanding and predicting these effects.</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e6813604e6_1_85"/>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Recommendations </a:t>
            </a:r>
            <a:endParaRPr sz="3200">
              <a:latin typeface="Times New Roman"/>
              <a:ea typeface="Times New Roman"/>
              <a:cs typeface="Times New Roman"/>
              <a:sym typeface="Times New Roman"/>
            </a:endParaRPr>
          </a:p>
        </p:txBody>
      </p:sp>
      <p:sp>
        <p:nvSpPr>
          <p:cNvPr id="183" name="Google Shape;183;g3e6813604e6_1_85"/>
          <p:cNvSpPr txBox="1"/>
          <p:nvPr>
            <p:ph idx="1" type="body"/>
          </p:nvPr>
        </p:nvSpPr>
        <p:spPr>
          <a:xfrm>
            <a:off x="457200" y="1117351"/>
            <a:ext cx="8229300" cy="44646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To improve productivity and mental well-being, the following measures are suggested:</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Limit non-academic screen time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Take regular breaks during screen usage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Avoid screen exposure before sleep</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Maintain a balanced daily routine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Practice digital detox to reduce dependency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Adopting these habits can help students achieve better focus, reduced stress, and improved sleep quality.</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e6813604e6_1_93"/>
          <p:cNvSpPr txBox="1"/>
          <p:nvPr>
            <p:ph type="title"/>
          </p:nvPr>
        </p:nvSpPr>
        <p:spPr>
          <a:xfrm>
            <a:off x="457200" y="439625"/>
            <a:ext cx="5028900" cy="474300"/>
          </a:xfrm>
          <a:prstGeom prst="rect">
            <a:avLst/>
          </a:prstGeom>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rPr lang="en-US" sz="3200">
                <a:latin typeface="Times New Roman"/>
                <a:ea typeface="Times New Roman"/>
                <a:cs typeface="Times New Roman"/>
                <a:sym typeface="Times New Roman"/>
              </a:rPr>
              <a:t>Future Work</a:t>
            </a:r>
            <a:endParaRPr sz="3200">
              <a:latin typeface="Times New Roman"/>
              <a:ea typeface="Times New Roman"/>
              <a:cs typeface="Times New Roman"/>
              <a:sym typeface="Times New Roman"/>
            </a:endParaRPr>
          </a:p>
          <a:p>
            <a:pPr indent="0" lvl="0" marL="0" rtl="0" algn="l">
              <a:spcBef>
                <a:spcPts val="600"/>
              </a:spcBef>
              <a:spcAft>
                <a:spcPts val="0"/>
              </a:spcAft>
              <a:buNone/>
            </a:pPr>
            <a:r>
              <a:t/>
            </a:r>
            <a:endParaRPr sz="3200">
              <a:latin typeface="Times New Roman"/>
              <a:ea typeface="Times New Roman"/>
              <a:cs typeface="Times New Roman"/>
              <a:sym typeface="Times New Roman"/>
            </a:endParaRPr>
          </a:p>
        </p:txBody>
      </p:sp>
      <p:sp>
        <p:nvSpPr>
          <p:cNvPr id="190" name="Google Shape;190;g3e6813604e6_1_93"/>
          <p:cNvSpPr txBox="1"/>
          <p:nvPr>
            <p:ph idx="1" type="body"/>
          </p:nvPr>
        </p:nvSpPr>
        <p:spPr>
          <a:xfrm>
            <a:off x="457200" y="1154001"/>
            <a:ext cx="8229300" cy="44280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study can be extended in the following ways:</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Use advanced machine learning models for better prediction</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Increase dataset size for more accurate results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Collect real-time data using apps or tracking tools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Analyze additional factors such as physical activity and lifestyle</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These improvements can provide deeper insights into the impact of screen time on students’ behavior and performance.</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196" name="Google Shape;196;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